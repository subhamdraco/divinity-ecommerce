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DIVINITY IMPEX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9A227"/>
                </a:solidFill>
                <a:latin typeface="Segoe UI"/>
              </a:defRPr>
            </a:pPr>
            <a:r>
              <a:t>Global Brands Business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Website Design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Concept · Architecture · Wireframes · 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Prepared for Review &amp; Approval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Unified digital hub for four business verticals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331720" cy="1097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TITAN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Cutting-edge nutrition &amp; performance products for the modern health enthusiast.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914400" cy="256032"/>
          </a:xfrm>
          <a:prstGeom prst="round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04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344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6BB3"/>
                </a:solidFill>
                <a:latin typeface="Segoe UI"/>
              </a:defRPr>
            </a:pPr>
            <a:r>
              <a:t>Sports Supplement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37160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371600"/>
            <a:ext cx="2606040" cy="54864"/>
          </a:xfrm>
          <a:prstGeom prst="rect">
            <a:avLst/>
          </a:prstGeom>
          <a:solidFill>
            <a:srgbClr val="C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1600200"/>
            <a:ext cx="2331720" cy="1097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RESHU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1089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Elegant personal care solutions crafted for daily luxury and skincare excellence.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886200"/>
            <a:ext cx="914400" cy="256032"/>
          </a:xfrm>
          <a:prstGeom prst="roundRect">
            <a:avLst/>
          </a:prstGeom>
          <a:solidFill>
            <a:srgbClr val="C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904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2344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45B7A"/>
                </a:solidFill>
                <a:latin typeface="Segoe UI"/>
              </a:defRPr>
            </a:pPr>
            <a:r>
              <a:t>FMCG / Personal Care Range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1600200"/>
            <a:ext cx="2331720" cy="1097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NOVA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1089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Experiential leadership &amp; human development — corporates, schools &amp; institutions.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886200"/>
            <a:ext cx="914400" cy="256032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04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2344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E7C7B"/>
                </a:solidFill>
                <a:latin typeface="Segoe UI"/>
              </a:defRPr>
            </a:pPr>
            <a:r>
              <a:t>Inner Compass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37160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1371600"/>
            <a:ext cx="260604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89720" y="1600200"/>
            <a:ext cx="2331720" cy="1097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2788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RIZWAN ADATIA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1089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Entrepreneur, philanthropist &amp; motivational speaker — purpose-driven leadership.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886200"/>
            <a:ext cx="914400" cy="256032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3904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12344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8860B"/>
                </a:solidFill>
                <a:latin typeface="Segoe UI"/>
              </a:defRPr>
            </a:pPr>
            <a:r>
              <a:t>Individual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Goal: A single premium hub website that showcases all four segments and routes visitors to dedicated sub-sites.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Segoe UI"/>
              </a:defRPr>
            </a:pPr>
            <a:r>
              <a:t>  •  One cohesive Divinity Impex brand experience with segment-specific identity on sub-pages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Segoe UI"/>
              </a:defRPr>
            </a:pPr>
            <a:r>
              <a:t>  •  Click any segment card → navigates to its dedicated route (/titan-core, /reshu, /nova, /rizwan-adatia)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Segoe UI"/>
              </a:defRPr>
            </a:pPr>
            <a:r>
              <a:t>  •  Shared navigation, footer, and design language — unique accent colors per vertical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  <a:latin typeface="Segoe UI"/>
              </a:defRPr>
            </a:pPr>
            <a:r>
              <a:t>  •  Mobile-first responsive design for global audience across Africa, Asia, Middle East &amp; beyond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Site Architecture &amp;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URL structure and page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265176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600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divinityimpex.com  (Hub)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377440" cy="502920"/>
          </a:xfrm>
          <a:prstGeom prst="round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16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Titan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BB3"/>
                </a:solidFill>
                <a:latin typeface="Segoe UI"/>
              </a:defRPr>
            </a:pPr>
            <a:r>
              <a:t>/titan-core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103120"/>
            <a:ext cx="36576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743200"/>
            <a:ext cx="2377440" cy="502920"/>
          </a:xfrm>
          <a:prstGeom prst="roundRect">
            <a:avLst/>
          </a:prstGeom>
          <a:solidFill>
            <a:srgbClr val="C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816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Reshu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45B7A"/>
                </a:solidFill>
                <a:latin typeface="Segoe UI"/>
              </a:defRPr>
            </a:pPr>
            <a:r>
              <a:t>/reshu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6576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52160" y="2743200"/>
            <a:ext cx="2377440" cy="50292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816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NOVA Inner Compass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E7C7B"/>
                </a:solidFill>
                <a:latin typeface="Segoe UI"/>
              </a:defRPr>
            </a:pPr>
            <a:r>
              <a:t>/nova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103120"/>
            <a:ext cx="36576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2743200"/>
            <a:ext cx="2377440" cy="50292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816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Rizwan Adatia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8860B"/>
                </a:solidFill>
                <a:latin typeface="Segoe UI"/>
              </a:defRPr>
            </a:pPr>
            <a:r>
              <a:t>/rizwan-adatia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103120"/>
            <a:ext cx="36576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7C7B"/>
                </a:solidFill>
                <a:latin typeface="Segoe UI"/>
              </a:defRPr>
            </a:pPr>
            <a:r>
              <a:t>NOVA Sub-routes: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160520"/>
            <a:ext cx="1234440" cy="3200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187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7C7B"/>
                </a:solidFill>
                <a:latin typeface="Segoe UI"/>
              </a:defRPr>
            </a:pPr>
            <a:r>
              <a:t>/nova/corporate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60520"/>
            <a:ext cx="1234440" cy="3200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87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7C7B"/>
                </a:solidFill>
                <a:latin typeface="Segoe UI"/>
              </a:defRPr>
            </a:pPr>
            <a:r>
              <a:t>/nova/schools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160520"/>
            <a:ext cx="1234440" cy="32004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4187952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E7C7B"/>
                </a:solidFill>
                <a:latin typeface="Segoe UI"/>
              </a:defRPr>
            </a:pPr>
            <a:r>
              <a:t>/nova/contact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Shared Hub Pages: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/about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/global-presence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/manufacturing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9495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/leadership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39495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/contact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Segoe UI"/>
              </a:defRPr>
            </a:pPr>
            <a:r>
              <a:t>Navigation Flow:</a:t>
            </a:r>
            <a:br/>
            <a:r>
              <a:t>1. Visitor lands on Hub homepage</a:t>
            </a:r>
            <a:br/>
            <a:r>
              <a:t>2. Sees four segment cards with distinct branding</a:t>
            </a:r>
            <a:br/>
            <a:r>
              <a:t>3. Clicks a card → full segment experience on dedicated route</a:t>
            </a:r>
            <a:br/>
            <a:r>
              <a:t>4. Breadcrumb + 'Back to Hub' always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Homepage Wireframe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divinityimpex.com — The Global Brands Business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DIVINITY IMPEX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74519"/>
            <a:ext cx="11274552" cy="182880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03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Global Manufacturing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F5F7"/>
                </a:solidFill>
                <a:latin typeface="Segoe UI"/>
              </a:defRPr>
            </a:pPr>
            <a:r>
              <a:t>Crafting high-quality personal care, healthcare &amp; FMCG products</a:t>
            </a:r>
            <a:br/>
            <a:r>
              <a:t>that resonate with consumers worldwide.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1371600" cy="32004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644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t>Explore Brands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227"/>
                </a:solidFill>
                <a:latin typeface="Segoe UI"/>
              </a:defRPr>
            </a:pPr>
            <a:r>
              <a:t>40+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4F5F7"/>
                </a:solidFill>
                <a:latin typeface="Segoe UI"/>
              </a:defRPr>
            </a:pPr>
            <a:r>
              <a:t>Years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227"/>
                </a:solidFill>
                <a:latin typeface="Segoe UI"/>
              </a:defRPr>
            </a:pPr>
            <a:r>
              <a:t>30+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4F5F7"/>
                </a:solidFill>
                <a:latin typeface="Segoe UI"/>
              </a:defRPr>
            </a:pPr>
            <a:r>
              <a:t>Countries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2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4F5F7"/>
                </a:solidFill>
                <a:latin typeface="Segoe UI"/>
              </a:defRPr>
            </a:pPr>
            <a:r>
              <a:t>Continents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227"/>
                </a:solidFill>
                <a:latin typeface="Segoe UI"/>
              </a:defRPr>
            </a:pPr>
            <a:r>
              <a:t>200+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4F5F7"/>
                </a:solidFill>
                <a:latin typeface="Segoe UI"/>
              </a:defRPr>
            </a:pPr>
            <a:r>
              <a:t>Brands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Our Business Segments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06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2606040" cy="54864"/>
          </a:xfrm>
          <a:prstGeom prst="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4434840"/>
            <a:ext cx="2331720" cy="1097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623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TITAN 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9436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Click to explore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897880"/>
            <a:ext cx="914400" cy="256032"/>
          </a:xfrm>
          <a:prstGeom prst="round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916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4206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4206240"/>
            <a:ext cx="2606040" cy="54864"/>
          </a:xfrm>
          <a:prstGeom prst="rect">
            <a:avLst/>
          </a:prstGeom>
          <a:solidFill>
            <a:srgbClr val="C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9000" y="4434840"/>
            <a:ext cx="2331720" cy="1097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5623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RESHU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59436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Click to explore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5897880"/>
            <a:ext cx="914400" cy="256032"/>
          </a:xfrm>
          <a:prstGeom prst="roundRect">
            <a:avLst/>
          </a:prstGeom>
          <a:solidFill>
            <a:srgbClr val="C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5916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 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206240"/>
            <a:ext cx="260604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63640" y="4434840"/>
            <a:ext cx="2331720" cy="1097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623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NOVA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9436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Click to explore 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5897880"/>
            <a:ext cx="914400" cy="256032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5916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 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4206240"/>
            <a:ext cx="26060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61120" y="4206240"/>
            <a:ext cx="2606040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98280" y="4434840"/>
            <a:ext cx="2331720" cy="109728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RIZWAN ADATIA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594360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Click to explore 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98280" y="5897880"/>
            <a:ext cx="914400" cy="256032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5916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Explore 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↓ Scroll: Global Presence Map · R&amp;D Process · Volume Edge · Leadership · Footer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Hub Page — Additional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Content from Divinity Impex Global Brands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974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Global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FMCG manufacturer &amp; developer — personal care, healthcare &amp; FMCG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974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Global Presence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920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Interactive map: Americas, Africa, Asia Pacific, Europe, Middle East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Manufacturing Hubs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20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India · China · Turkey · Africa · UAE — sourcing &amp; R&amp;D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26974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554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Trusted Brands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RESHU, NAOMI, BONJOUR, ESPECIAL, TITAN CORE, RUVO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26974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R&amp;D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89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Data-driven: Category analysis → Sourcing → QA → Volume Edge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84048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840480"/>
            <a:ext cx="26974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Legacy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389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40+ years · Cash &amp; Carry pillar · Africa distribution backbone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84048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26974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89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Mr. Rizwan Adatia — Purpose-Driven Success philosophy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840480"/>
            <a:ext cx="2697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840480"/>
            <a:ext cx="26974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CTA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3891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Let's Build the Future of FMCG Together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Titan Core — /titan-core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Sports Supplement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TITAN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74519"/>
            <a:ext cx="11274552" cy="1463040"/>
          </a:xfrm>
          <a:prstGeom prst="round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Fuel Your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F5F7"/>
                </a:solidFill>
                <a:latin typeface="Segoe UI"/>
              </a:defRPr>
            </a:pPr>
            <a:r>
              <a:t>Cutting-edge nutrition &amp; performance products for the modern health enthusiast.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5394960" cy="1188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BB3"/>
                </a:solidFill>
                <a:latin typeface="Segoe UI"/>
              </a:defRPr>
            </a:pPr>
            <a:r>
              <a:t>Product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69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Protein · Pre-workout · Recovery · Vitamins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66160"/>
            <a:ext cx="5394960" cy="1188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566160"/>
            <a:ext cx="73152" cy="1188720"/>
          </a:xfrm>
          <a:prstGeom prst="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BB3"/>
                </a:solidFill>
                <a:latin typeface="Segoe UI"/>
              </a:defRPr>
            </a:pPr>
            <a:r>
              <a:t>Science-Backed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69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R&amp;D driven formulations with international certifications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5394960" cy="1188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73152" cy="1188720"/>
          </a:xfrm>
          <a:prstGeom prst="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BB3"/>
                </a:solidFill>
                <a:latin typeface="Segoe UI"/>
              </a:defRPr>
            </a:pPr>
            <a:r>
              <a:t>Global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Available across Africa, Middle East &amp; Asia Pacific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937760"/>
            <a:ext cx="5394960" cy="1188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4937760"/>
            <a:ext cx="73152" cy="1188720"/>
          </a:xfrm>
          <a:prstGeom prst="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074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BB3"/>
                </a:solidFill>
                <a:latin typeface="Segoe UI"/>
              </a:defRPr>
            </a:pPr>
            <a:r>
              <a:t>Partner With 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440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Distributor &amp; retail partnership opportunities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Segoe UI"/>
              </a:defRPr>
            </a:pPr>
            <a:r>
              <a:t>  •  Accent: Athletic Blue (#006BB3) · Bold typography · Dynamic imagery · Product grid layout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Reshu — /reshu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FMCG / Personal Care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RESHU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74519"/>
            <a:ext cx="11274552" cy="1463040"/>
          </a:xfrm>
          <a:prstGeom prst="roundRect">
            <a:avLst/>
          </a:prstGeom>
          <a:solidFill>
            <a:srgbClr val="C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Daily Luxury, Skincare Excellence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F5F7"/>
                </a:solidFill>
                <a:latin typeface="Segoe UI"/>
              </a:defRPr>
            </a:pPr>
            <a:r>
              <a:t>Elegant personal care solutions crafted for everyday indulgence.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914400" cy="7315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977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A"/>
                </a:solidFill>
                <a:latin typeface="Segoe UI"/>
              </a:defRPr>
            </a:pPr>
            <a:r>
              <a:t>Skincare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657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3794760"/>
            <a:ext cx="914400" cy="7315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977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A"/>
                </a:solidFill>
                <a:latin typeface="Segoe UI"/>
              </a:defRPr>
            </a:pPr>
            <a:r>
              <a:t>Hair Care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65760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39" y="3794760"/>
            <a:ext cx="914400" cy="7315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3999" y="3977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A"/>
                </a:solidFill>
                <a:latin typeface="Segoe UI"/>
              </a:defRPr>
            </a:pPr>
            <a:r>
              <a:t>Body Care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3776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5074920"/>
            <a:ext cx="914400" cy="7315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5257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A"/>
                </a:solidFill>
                <a:latin typeface="Segoe UI"/>
              </a:defRPr>
            </a:pPr>
            <a:r>
              <a:t>Fragrances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93776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43400" y="5074920"/>
            <a:ext cx="914400" cy="7315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5257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A"/>
                </a:solidFill>
                <a:latin typeface="Segoe UI"/>
              </a:defRPr>
            </a:pPr>
            <a:r>
              <a:t>Hygiene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937760"/>
            <a:ext cx="34747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92439" y="5074920"/>
            <a:ext cx="914400" cy="7315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3999" y="5257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5B7A"/>
                </a:solidFill>
                <a:latin typeface="Segoe UI"/>
              </a:defRPr>
            </a:pPr>
            <a:r>
              <a:t>Wellness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6B7280"/>
                </a:solidFill>
                <a:latin typeface="Segoe UI"/>
              </a:defRPr>
            </a:pPr>
            <a:r>
              <a:t>  •  Also features sister brands: BONJOUR, ESPECIAL, NAOMI · Soft rose palette · Elegant serif accents · Product catalog 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NOVA Inner Compass — /nova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Leadership &amp; Human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NOVA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74519"/>
            <a:ext cx="11274552" cy="146304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Building Better Leaders. Stronger Teams. Better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F5F7"/>
                </a:solidFill>
                <a:latin typeface="Segoe UI"/>
              </a:defRPr>
            </a:pPr>
            <a:r>
              <a:t>Experiential leadership programs for corporates, schools &amp; institutions.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5394960" cy="2286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5394960" cy="41148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Corporate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  <a:latin typeface="Segoe UI"/>
              </a:defRPr>
            </a:pPr>
            <a:r>
              <a:t>  •  Clarity Shift Program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  <a:latin typeface="Segoe UI"/>
              </a:defRPr>
            </a:pPr>
            <a:r>
              <a:t>  •  Inner Clarity · Outer Impact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  <a:latin typeface="Segoe UI"/>
              </a:defRPr>
            </a:pPr>
            <a:r>
              <a:t>  •  8,500+ Sessions · 13.4M+ Participants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  <a:latin typeface="Segoe UI"/>
              </a:defRPr>
            </a:pPr>
            <a:r>
              <a:t>  •  21 Countries · 16 World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394960" cy="2286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394960" cy="41148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Schools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  <a:latin typeface="Segoe UI"/>
              </a:defRPr>
            </a:pPr>
            <a:r>
              <a:t>  •  Student Character Development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  <a:latin typeface="Segoe UI"/>
              </a:defRPr>
            </a:pPr>
            <a:r>
              <a:t>  •  Teacher &amp; Parent Impact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  <a:latin typeface="Segoe UI"/>
              </a:defRPr>
            </a:pPr>
            <a:r>
              <a:t>  •  Sponsor &amp; Community Model</a:t>
            </a:r>
          </a:p>
          <a:p>
            <a:pPr>
              <a:spcAft>
                <a:spcPts val="400"/>
              </a:spcAft>
              <a:defRPr sz="900">
                <a:solidFill>
                  <a:srgbClr val="1A1A2E"/>
                </a:solidFill>
                <a:latin typeface="Segoe UI"/>
              </a:defRPr>
            </a:pPr>
            <a:r>
              <a:t>  •  Focus · Discipline · 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E7C7B"/>
                </a:solidFill>
                <a:latin typeface="Segoe UI"/>
              </a:defRPr>
            </a:pPr>
            <a:r>
              <a:t>5A Framework: Aware → Align → Activate → Apply → Amplify  |  Contact: info@novaicompass.com  |  www.novaicompass.com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Rizwan Adatia — /rizwan-adatia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Entrepreneur · Philanthropist · Speaker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RIZWAN ADATIA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Leadership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389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Contact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74519"/>
            <a:ext cx="11274552" cy="146304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Visionary Entrepreneur, Philanthropist, and Advocate for Positive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4F5F7"/>
                </a:solidFill>
                <a:latin typeface="Segoe UI"/>
              </a:defRPr>
            </a:pPr>
            <a:r>
              <a:t>"Success is measured by the lives we uplift."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5394960" cy="10972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Segoe UI"/>
              </a:defRPr>
            </a:pPr>
            <a:r>
              <a:t>COGEF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Global trade across 10 African countries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657600"/>
            <a:ext cx="5394960" cy="10972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Segoe UI"/>
              </a:defRPr>
            </a:pPr>
            <a:r>
              <a:t>RAF 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Philanthropy — empowering millions since 2015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5394960" cy="10972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Segoe UI"/>
              </a:defRPr>
            </a:pPr>
            <a:r>
              <a:t>Human for Humans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Global compassion movement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937760"/>
            <a:ext cx="5394960" cy="109728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Segoe UI"/>
              </a:defRPr>
            </a:pPr>
            <a:r>
              <a:t>Speaking &amp; 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440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56 awards · Motivational speaker · Biopic 'Rizwan'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860B"/>
                </a:solidFill>
                <a:latin typeface="Segoe UI"/>
              </a:defRPr>
            </a:pPr>
            <a:r>
              <a:t>Gallery · Awards · Media Features · Get Involved  |  www.rizwanadatia.org  |  info@rizwanadatia.com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Typography · Colors · Components · UI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Color Palette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457200" cy="45720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Hub Navy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476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#0D1B2A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691640"/>
            <a:ext cx="457200" cy="45720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737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Hub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476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#C9A227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691640"/>
            <a:ext cx="457200" cy="457200"/>
          </a:xfrm>
          <a:prstGeom prst="roundRect">
            <a:avLst/>
          </a:prstGeom>
          <a:solidFill>
            <a:srgbClr val="00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737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Titan 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94767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#006BB3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31720"/>
            <a:ext cx="457200" cy="457200"/>
          </a:xfrm>
          <a:prstGeom prst="roundRect">
            <a:avLst/>
          </a:prstGeom>
          <a:solidFill>
            <a:srgbClr val="C45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377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Reshu Rose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5877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#C45B7A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2331720"/>
            <a:ext cx="457200" cy="45720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377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NOVA Teal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5877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#0E7C7B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2331720"/>
            <a:ext cx="457200" cy="45720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377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Segoe UI"/>
              </a:defRPr>
            </a:pPr>
            <a:r>
              <a:t>Rizwan 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5877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#B8860B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Typography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691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Segoe UI"/>
              </a:defRPr>
            </a:pPr>
            <a:r>
              <a:t>Headings: Playfair Display (serif, premium feel)</a:t>
            </a:r>
            <a:br/>
            <a:r>
              <a:t>Body: Inter / Segoe UI (clean, readable)</a:t>
            </a:r>
            <a:br/>
            <a:r>
              <a:t>Accent: Montserrat (CTAs, labels, nav items)</a:t>
            </a:r>
            <a:br/>
            <a:br/>
            <a:r>
              <a:t>Hierarchy: H1 48px · H2 32px · H3 24px · Body 16px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UI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66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  <a:latin typeface="Segoe UI"/>
              </a:defRPr>
            </a:pPr>
            <a:r>
              <a:t>  •  Segment Cards — hover lift + accent border + route link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  <a:latin typeface="Segoe UI"/>
              </a:defRPr>
            </a:pPr>
            <a:r>
              <a:t>  •  Sticky Navigation — hub logo + segment switcher dropdown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  <a:latin typeface="Segoe UI"/>
              </a:defRPr>
            </a:pPr>
            <a:r>
              <a:t>  •  Hero Sections — full-width with gradient overlay per segment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  <a:latin typeface="Segoe UI"/>
              </a:defRPr>
            </a:pPr>
            <a:r>
              <a:t>  •  Stats Counters — animated numbers on scroll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  <a:latin typeface="Segoe UI"/>
              </a:defRPr>
            </a:pPr>
            <a:r>
              <a:t>  •  Breadcrumbs — Hub &gt; Segment &gt; Sub-page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  <a:latin typeface="Segoe UI"/>
              </a:defRPr>
            </a:pPr>
            <a:r>
              <a:t>  •  CTA Buttons — Gold (hub) / Segment accent (sub-pages)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  <a:latin typeface="Segoe UI"/>
              </a:defRPr>
            </a:pPr>
            <a:r>
              <a:t>  •  Footer — unified contact, social links, segment quick-links</a:t>
            </a:r>
          </a:p>
          <a:p>
            <a:pPr>
              <a:spcAft>
                <a:spcPts val="400"/>
              </a:spcAft>
              <a:defRPr sz="1000">
                <a:solidFill>
                  <a:srgbClr val="1A1A2E"/>
                </a:solidFill>
                <a:latin typeface="Segoe UI"/>
              </a:defRPr>
            </a:pPr>
            <a:r>
              <a:t>  •  Global Map — interactive SVG for manufacturing hubs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Responsive Breakpoints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Segoe UI"/>
              </a:defRPr>
            </a:pPr>
            <a:r>
              <a:t>Desktop (1280px+): 4-column segment grid</a:t>
            </a:r>
            <a:br/>
            <a:r>
              <a:t>Tablet (768–1279px): 2-column grid, collapsible nav</a:t>
            </a:r>
            <a:br/>
            <a:r>
              <a:t>Mobile (&lt;768px): Single column, hamburger menu</a:t>
            </a:r>
            <a:br/>
            <a:r>
              <a:t>Touch-friendly 44px tap targets</a:t>
            </a:r>
            <a:br/>
            <a:r>
              <a:t>Lazy-loaded images for performance</a:t>
            </a:r>
            <a:br/>
            <a:r>
              <a:t>Smooth page transitions between routes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Technology &amp;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A227"/>
                </a:solidFill>
                <a:latin typeface="Segoe UI"/>
              </a:defRPr>
            </a:pPr>
            <a:r>
              <a:t>Proposed stack for development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Proposed Stack:</a:t>
            </a:r>
            <a:br/>
            <a:br/>
            <a:r>
              <a:t>Framework: Next.js 14 (App Router)</a:t>
            </a:r>
            <a:br/>
            <a:r>
              <a:t>Styling: Tailwind CSS + custom design tokens</a:t>
            </a:r>
            <a:br/>
            <a:r>
              <a:t>Animations: Framer Motion (scroll reveals, transitions)</a:t>
            </a:r>
            <a:br/>
            <a:r>
              <a:t>Routing: File-based (/titan-core, /reshu, /nova, /rizwan-adatia)</a:t>
            </a:r>
            <a:br/>
            <a:r>
              <a:t>Deployment: Vercel or custom hosting</a:t>
            </a:r>
            <a:br/>
            <a:r>
              <a:t>SEO: Meta tags, Open Graph per segment</a:t>
            </a:r>
            <a:br/>
            <a:r>
              <a:t>Performance: Image optimization, lazy loading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Segoe UI"/>
              </a:defRPr>
            </a:pPr>
            <a:r>
              <a:t>Development Phases (post-approval):</a:t>
            </a:r>
            <a:br/>
            <a:br/>
            <a:r>
              <a:t>Phase 1: Hub homepage + navigation + design system</a:t>
            </a:r>
            <a:br/>
            <a:r>
              <a:t>Phase 2: Four segment landing pages with content</a:t>
            </a:r>
            <a:br/>
            <a:r>
              <a:t>Phase 3: NOVA sub-routes (corporate, schools)</a:t>
            </a:r>
            <a:br/>
            <a:r>
              <a:t>Phase 4: Hub inner pages (about, manufacturing, etc.)</a:t>
            </a:r>
            <a:br/>
            <a:r>
              <a:t>Phase 5: Polish — animations, SEO, mobile QA</a:t>
            </a:r>
            <a:br/>
            <a:r>
              <a:t>Phase 6: Deploy + handoff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 This presentation is for DESIGN APPROVAL ONLY.</a:t>
            </a:r>
            <a:br/>
            <a:r>
              <a:t>Once you approve the concept, wireframes, colors, and structure — we will proceed to build the live website.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Next Steps — Awaiting Your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411480" cy="41148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8745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74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Review this design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606040"/>
            <a:ext cx="411480" cy="41148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Share feedback on layout, colors, content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383280"/>
            <a:ext cx="411480" cy="41148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429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Approve or request revisions to any segment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160520"/>
            <a:ext cx="411480" cy="41148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206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Provide brand assets (logos, product images, photography)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937760"/>
            <a:ext cx="411480" cy="41148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983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Upon approval → we build the full responsive 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227"/>
                </a:solidFill>
                <a:latin typeface="Segoe UI"/>
              </a:defRPr>
            </a:pPr>
            <a:r>
              <a:t>DIVINITY IMPEX  |  Global Operations  |  Quality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